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  <p:sldMasterId id="2147483684" r:id="rId5"/>
  </p:sldMasterIdLst>
  <p:notesMasterIdLst>
    <p:notesMasterId r:id="rId29"/>
  </p:notesMasterIdLst>
  <p:sldIdLst>
    <p:sldId id="329" r:id="rId6"/>
    <p:sldId id="330" r:id="rId7"/>
    <p:sldId id="331" r:id="rId8"/>
    <p:sldId id="332" r:id="rId9"/>
    <p:sldId id="346" r:id="rId10"/>
    <p:sldId id="347" r:id="rId11"/>
    <p:sldId id="348" r:id="rId12"/>
    <p:sldId id="333" r:id="rId13"/>
    <p:sldId id="344" r:id="rId14"/>
    <p:sldId id="343" r:id="rId15"/>
    <p:sldId id="349" r:id="rId16"/>
    <p:sldId id="350" r:id="rId17"/>
    <p:sldId id="339" r:id="rId18"/>
    <p:sldId id="341" r:id="rId19"/>
    <p:sldId id="342" r:id="rId20"/>
    <p:sldId id="345" r:id="rId21"/>
    <p:sldId id="334" r:id="rId22"/>
    <p:sldId id="335" r:id="rId23"/>
    <p:sldId id="353" r:id="rId36"/>
    <p:sldId id="336" r:id="rId24"/>
    <p:sldId id="340" r:id="rId25"/>
    <p:sldId id="337" r:id="rId26"/>
    <p:sldId id="351" r:id="rId27"/>
    <p:sldId id="352" r:id="rId35"/>
    <p:sldId id="338" r:id="rId2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999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70AFA-D863-4DE8-97BE-9BACBC4262F6}" v="2" dt="2021-01-29T01:10:07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satMod val="35000"/>
              <a:tint val="30000"/>
            </a:schemeClr>
          </a:solidFill>
        </a:fill>
      </a:tcStyle>
    </a:wholeTbl>
    <a:band1H>
      <a:tcStyle>
        <a:tcBdr/>
        <a:fill>
          <a:solidFill>
            <a:schemeClr val="accent2">
              <a:satMod val="35000"/>
              <a:tint val="55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satMod val="35000"/>
              <a:tint val="55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>
              <a:satMod val="55000"/>
              <a:shade val="65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>
              <a:satMod val="55000"/>
              <a:shade val="65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>
              <a:satMod val="55000"/>
              <a:shade val="65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>
              <a:satMod val="55000"/>
              <a:shade val="65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2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8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  <Relationship Id="rId35" Type="http://schemas.openxmlformats.org/officeDocument/2006/relationships/slide" Target="slides/slide24.xml"/>
  <Relationship Id="rId36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9D5B7-61F9-4E2C-9C80-0A749501668F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9ABEC-2E89-49AE-98B6-02FBB449F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10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/>
          <p:cNvSpPr>
            <a:spLocks noGrp="1"/>
          </p:cNvSpPr>
          <p:nvPr>
            <p:ph type="title"/>
          </p:nvPr>
        </p:nvSpPr>
        <p:spPr>
          <a:xfrm>
            <a:off x="253841" y="273687"/>
            <a:ext cx="8543925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50">
                <a:solidFill>
                  <a:srgbClr val="2F42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081" y="200297"/>
            <a:ext cx="810918" cy="38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4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391" y="131326"/>
            <a:ext cx="1081224" cy="449955"/>
          </a:xfrm>
          <a:prstGeom prst="rect">
            <a:avLst/>
          </a:prstGeom>
        </p:spPr>
      </p:pic>
      <p:sp>
        <p:nvSpPr>
          <p:cNvPr id="15" name="직사각형 14"/>
          <p:cNvSpPr/>
          <p:nvPr userDrawn="1"/>
        </p:nvSpPr>
        <p:spPr>
          <a:xfrm>
            <a:off x="511745" y="670367"/>
            <a:ext cx="9032870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/>
          </a:p>
        </p:txBody>
      </p:sp>
      <p:sp>
        <p:nvSpPr>
          <p:cNvPr id="16" name="평행 사변형 15"/>
          <p:cNvSpPr/>
          <p:nvPr userDrawn="1"/>
        </p:nvSpPr>
        <p:spPr>
          <a:xfrm>
            <a:off x="118020" y="670201"/>
            <a:ext cx="2929560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/>
          </a:p>
        </p:txBody>
      </p:sp>
      <p:sp>
        <p:nvSpPr>
          <p:cNvPr id="2" name="직사각형 1"/>
          <p:cNvSpPr/>
          <p:nvPr userDrawn="1"/>
        </p:nvSpPr>
        <p:spPr>
          <a:xfrm>
            <a:off x="9555511" y="548680"/>
            <a:ext cx="350489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/>
          <p:cNvSpPr/>
          <p:nvPr userDrawn="1"/>
        </p:nvSpPr>
        <p:spPr>
          <a:xfrm>
            <a:off x="0" y="548680"/>
            <a:ext cx="350489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72041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2797" y="6152557"/>
            <a:ext cx="1999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ko-KR" sz="800" dirty="0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©2017 SELVAS</a:t>
            </a:r>
            <a:r>
              <a:rPr lang="en-US" altLang="ko-KR" sz="800" baseline="0" dirty="0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</a:t>
            </a:r>
            <a:r>
              <a:rPr lang="en-US" altLang="ko-KR" sz="800" dirty="0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3" y="406401"/>
            <a:ext cx="1404413" cy="64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6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481485" y="6625340"/>
            <a:ext cx="2791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A3AB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and proprietary material for authorized persons only. </a:t>
            </a:r>
          </a:p>
        </p:txBody>
      </p: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9292035" y="6630426"/>
            <a:ext cx="375856" cy="198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3DCD242-C625-446E-8441-5B4A1DBD77FD}" type="slidenum">
              <a:rPr lang="ko-KR" altLang="en-US" sz="698" smtClean="0">
                <a:solidFill>
                  <a:srgbClr val="A3AB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ko-KR" altLang="en-US" sz="698" dirty="0">
              <a:solidFill>
                <a:srgbClr val="A3AB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329232" y="670370"/>
            <a:ext cx="9267206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400"/>
          </a:p>
        </p:txBody>
      </p:sp>
      <p:sp>
        <p:nvSpPr>
          <p:cNvPr id="10" name="평행 사변형 9"/>
          <p:cNvSpPr/>
          <p:nvPr userDrawn="1"/>
        </p:nvSpPr>
        <p:spPr>
          <a:xfrm>
            <a:off x="301180" y="670371"/>
            <a:ext cx="1929928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400"/>
          </a:p>
        </p:txBody>
      </p:sp>
      <p:sp>
        <p:nvSpPr>
          <p:cNvPr id="12" name="직사각형 11"/>
          <p:cNvSpPr/>
          <p:nvPr userDrawn="1"/>
        </p:nvSpPr>
        <p:spPr>
          <a:xfrm>
            <a:off x="152202" y="612423"/>
            <a:ext cx="177030" cy="171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0656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378" rtl="0" eaLnBrk="1" latinLnBrk="1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753591" y="3143307"/>
            <a:ext cx="8398819" cy="59089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400"/>
          </a:p>
        </p:txBody>
      </p:sp>
      <p:sp>
        <p:nvSpPr>
          <p:cNvPr id="3" name="평행 사변형 2"/>
          <p:cNvSpPr/>
          <p:nvPr userDrawn="1"/>
        </p:nvSpPr>
        <p:spPr>
          <a:xfrm>
            <a:off x="725539" y="3143305"/>
            <a:ext cx="1929928" cy="576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400"/>
          </a:p>
        </p:txBody>
      </p:sp>
      <p:sp>
        <p:nvSpPr>
          <p:cNvPr id="8" name="직사각형 7"/>
          <p:cNvSpPr/>
          <p:nvPr userDrawn="1"/>
        </p:nvSpPr>
        <p:spPr>
          <a:xfrm>
            <a:off x="576561" y="3085357"/>
            <a:ext cx="177030" cy="171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80506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8700" y="2617470"/>
            <a:ext cx="480000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 latinLnBrk="1"/>
            <a:r>
              <a:rPr lang="en-US" altLang="ko-KR" sz="2600" b="1" dirty="0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에코 캔슬 using WebRTC AEC</a:t>
            </a:r>
            <a:r>
              <a:rPr lang="ko-KR" altLang="en-US" sz="2600" b="1" dirty="0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8145" y="273685"/>
            <a:ext cx="8399780" cy="305435"/>
          </a:xfrm>
        </p:spPr>
        <p:txBody>
          <a:bodyPr/>
          <a:lstStyle/>
          <a:p>
            <a:r>
              <a:rPr lang="ko-KR" altLang="en-US" b="1" dirty="0">
                <a:solidFill>
                  <a:srgbClr val="2F424F"/>
                </a:solidFill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6485" y="1750000"/>
            <a:ext cx="4423335" cy="29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배경 및 목적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AEC 필터 방식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Barge-in 판정 로직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동작 흐름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ko-KR" altLang="en-US" sz="1700" b="1" dirty="0">
                <a:solidFill>
                  <a:srgbClr val="2F424F"/>
                </a:solidFill>
                <a:latin typeface="+mn-ea"/>
              </a:rPr>
              <a:t>맺음말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1.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배경 및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424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목적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기기에서 음성 사운드가 나오는 도중에 사람이 발성을 했을 때 인식(Barge-in)하기 위함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AEC(Acoustic Echo Cancellation) 필터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마이크로 들어온 신호에서 스피커로 출력된 신호(에코)를 제거하는 필터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스피커 소리가 재생되는 도중에도 사람의 발성만 구분하여 인식할 수 있게 해줌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스피커 출력과 마이크 입력을 10ms 프레임 단위로 동시에 처리해, 재생 중에도 저지연으로 발성 구간을 판단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Barge-in 정의 및 활용 사례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정의: TTS/음성 안내가 재생되는 도중 사용자 발화를 즉시 감지해 재생을 중단하고 입력을 처리하는 기능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사용 예 — 콜센터 IVR(ARS): 안내를 끝까지 듣지 않고 원하는 메뉴를 바로 말하거나 상담원 연결을 요청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사용 예 — 스마트 스피커·음성비서, Google Dialogflow·Amazon Lex 등 대화형 AI 플랫폼: 안내 음성 재생 중에도 후속 명령·질문을 즉시 인식</a:t>
            </a:r>
            <a:endParaRPr lang="en-US" altLang="ko-KR" sz="140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2.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AEC 필터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2945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하드웨어 방식 (기기 자체 DSP에서 제공)의 제한사항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안드로이드 스피커가 사용하는 채널(통화 채널, 미디어 채널) 중 통화 채널에서만 사용 가능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기기별로 성능이 상이함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→ SW 방식의 WebRTC APM 모듈을 사용한 구현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스피커 채널 관계없이 재생하는 사운드 신호를 AEC 필터에 직접 전달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마이크로 들어온 신호와 비교하여, 적응형 필터가 스피커로 출력된 신호를 입력 신호에서 제거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WebRTC AEC3(Acoustic Echo Canceller 3) 알고리즘 기반 적응형 필터 사용</a:t>
            </a:r>
            <a:endParaRPr lang="en-US" altLang="ko-KR" sz="14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1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하드웨어 AEC 방식 원리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AudioSource(VOICE_COMMUNICATION 등)를 제조사 지정 캡처 경로(디바이스·게인·전처리)에 매핑 — 구성은 벤더의 audio_effects.xml에 기술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재생 신호를 HAL/DSP 내부에서 참조해 적응형 필터로 에코 제거 — 칩셋별 구현이며 앱은 On/Off만 제어 가능(AcousticEchoCanceler). Android 10+부터 VOICE_COMMUNICATION 경로에 AEC 제공 의무화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2.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AEC 필터 방식</a:t>
            </a:r>
          </a:p>
        </p:txBody>
      </p:sp>
      <p:sp>
        <p:nvSpPr>
          <p:cNvPr id="10" name="round_10"/>
          <p:cNvSpPr/>
          <p:nvPr/>
        </p:nvSpPr>
        <p:spPr>
          <a:xfrm>
            <a:off x="35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마이크 입력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(근단)</a:t>
            </a:r>
          </a:p>
        </p:txBody>
      </p:sp>
      <p:sp>
        <p:nvSpPr>
          <p:cNvPr id="11" name="round_11"/>
          <p:cNvSpPr/>
          <p:nvPr/>
        </p:nvSpPr>
        <p:spPr>
          <a:xfrm>
            <a:off x="190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ko-KR" altLang="en-US" sz="1250" b="1" dirty="0">
                <a:latin typeface="+mn-ea"/>
              </a:rPr>
              <a:t>(내장 프론트엔드)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HPF 등, 벤더 비공개</a:t>
            </a:r>
          </a:p>
        </p:txBody>
      </p:sp>
      <p:sp>
        <p:nvSpPr>
          <p:cNvPr id="12" name="round_12"/>
          <p:cNvSpPr/>
          <p:nvPr/>
        </p:nvSpPr>
        <p:spPr>
          <a:xfrm>
            <a:off x="345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AEC (HW)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AcousticEchoCanceler</a:t>
            </a:r>
          </a:p>
        </p:txBody>
      </p:sp>
      <p:sp>
        <p:nvSpPr>
          <p:cNvPr id="13" name="round_13"/>
          <p:cNvSpPr/>
          <p:nvPr/>
        </p:nvSpPr>
        <p:spPr>
          <a:xfrm>
            <a:off x="500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NS (HW)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NoiseSuppressor</a:t>
            </a:r>
          </a:p>
        </p:txBody>
      </p:sp>
      <p:sp>
        <p:nvSpPr>
          <p:cNvPr id="14" name="round_14"/>
          <p:cNvSpPr/>
          <p:nvPr/>
        </p:nvSpPr>
        <p:spPr>
          <a:xfrm>
            <a:off x="655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AGC (HW)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AutomaticGainControl</a:t>
            </a:r>
          </a:p>
        </p:txBody>
      </p:sp>
      <p:sp>
        <p:nvSpPr>
          <p:cNvPr id="15" name="round_15"/>
          <p:cNvSpPr/>
          <p:nvPr/>
        </p:nvSpPr>
        <p:spPr>
          <a:xfrm>
            <a:off x="8100000" y="3775000"/>
            <a:ext cx="14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캡처 PCM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(앱으로 전달)</a:t>
            </a:r>
          </a:p>
        </p:txBody>
      </p:sp>
      <p:sp>
        <p:nvSpPr>
          <p:cNvPr id="19" name="round_19"/>
          <p:cNvSpPr/>
          <p:nvPr/>
        </p:nvSpPr>
        <p:spPr>
          <a:xfrm>
            <a:off x="3350000" y="2575000"/>
            <a:ext cx="1600000" cy="8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스피커 출력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(HAL 내부 참조)</a:t>
            </a:r>
          </a:p>
        </p:txBody>
      </p:sp>
      <p:cxnSp>
        <p:nvCxnSpPr>
          <p:cNvPr id="20" name="conn_20"/>
          <p:cNvCxnSpPr>
            <a:cxnSpLocks/>
            <a:stCxn id="10" idx="3"/>
            <a:endCxn id="11" idx="1"/>
          </p:cNvCxnSpPr>
          <p:nvPr/>
        </p:nvCxnSpPr>
        <p:spPr>
          <a:xfrm>
            <a:off x="1750000" y="420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_21"/>
          <p:cNvCxnSpPr>
            <a:cxnSpLocks/>
            <a:stCxn id="11" idx="3"/>
            <a:endCxn id="12" idx="1"/>
          </p:cNvCxnSpPr>
          <p:nvPr/>
        </p:nvCxnSpPr>
        <p:spPr>
          <a:xfrm>
            <a:off x="3300000" y="420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_22"/>
          <p:cNvCxnSpPr>
            <a:cxnSpLocks/>
            <a:stCxn id="12" idx="3"/>
            <a:endCxn id="13" idx="1"/>
          </p:cNvCxnSpPr>
          <p:nvPr/>
        </p:nvCxnSpPr>
        <p:spPr>
          <a:xfrm>
            <a:off x="4850000" y="420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_23"/>
          <p:cNvCxnSpPr>
            <a:cxnSpLocks/>
            <a:stCxn id="13" idx="3"/>
            <a:endCxn id="14" idx="1"/>
          </p:cNvCxnSpPr>
          <p:nvPr/>
        </p:nvCxnSpPr>
        <p:spPr>
          <a:xfrm>
            <a:off x="6400000" y="420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_24"/>
          <p:cNvCxnSpPr>
            <a:cxnSpLocks/>
            <a:stCxn id="14" idx="3"/>
            <a:endCxn id="15" idx="1"/>
          </p:cNvCxnSpPr>
          <p:nvPr/>
        </p:nvCxnSpPr>
        <p:spPr>
          <a:xfrm>
            <a:off x="7950000" y="420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_25"/>
          <p:cNvCxnSpPr>
            <a:cxnSpLocks/>
            <a:stCxn id="19" idx="2"/>
            <a:endCxn id="12" idx="0"/>
          </p:cNvCxnSpPr>
          <p:nvPr/>
        </p:nvCxnSpPr>
        <p:spPr>
          <a:xfrm>
            <a:off x="4150000" y="3375000"/>
            <a:ext cx="0" cy="400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0"/>
          <p:cNvSpPr txBox="1"/>
          <p:nvPr/>
        </p:nvSpPr>
        <p:spPr>
          <a:xfrm>
            <a:off x="361950" y="4725000"/>
            <a:ext cx="90297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ko-KR" altLang="en-US" sz="1250" b="1" dirty="0">
                <a:solidFill>
                  <a:srgbClr val="384F5F"/>
                </a:solidFill>
                <a:latin typeface="+mn-ea"/>
              </a:rPr>
              <a:t>HW + WebRTC SW AEC 동시 사용 조사 (이 프로젝트 코드 기준)</a:t>
            </a:r>
            <a:endParaRPr lang="en-US" altLang="ko-KR" sz="1250" b="1" dirty="0">
              <a:solidFill>
                <a:srgbClr val="384F5F"/>
              </a:solidFill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AudioRepository.kt: toggleAECHW()(HW AEC·NS·AGC)와 toggleAECSW()(WebRTC AEC3)가 서로 독립된 플래그로 존재 — 두 방식을 동시에 켤 수 있음(디버그/비교용)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HW AEC를 켜면 AudioSource가 VOICE_COMMUNICATION으로 전환 — 이미 벤더 DSP가 에코·잡음·이득을 처리한 신호가 캡처됨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이 신호에 WebRTC AEC3를 다시 적용하면 이중 처리(cascaded AEC)로 지연 추정·필터 수렴에 혼선이 생길 수 있음(서로 다른 두 적응 필터의 간섭)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실제 서비스 경로는 VOICE_RECOGNITION(HW 전처리 Off) + WebRTC APM 단독 사용을 채택 — 기기별 HW 성능 편차를 피하기 위함(2번 슬라이드의 SW 채택 이유와 일치)</a:t>
            </a:r>
            <a:endParaRPr lang="en-US" altLang="ko-KR" sz="90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ko-KR" altLang="en-US" sz="800" i="1" dirty="0">
                <a:solidFill>
                  <a:srgbClr val="A3ABB2"/>
                </a:solidFill>
                <a:latin typeface="+mn-ea"/>
              </a:rPr>
              <a:t>출처: source.android.com/docs/core/audio/implement-pre-processing(Android 10+ VOICE_COMMUNICATION AEC 의무화, audio_effects.xml) · 프로젝트 소스 AudioRepository.kt(toggleAECHW/toggleAECSW/createAudioRecord)</a:t>
            </a:r>
            <a:endParaRPr lang="en-US" altLang="ko-KR" sz="800" i="1" dirty="0">
              <a:solidFill>
                <a:srgbClr val="A3ABB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WebRTC란?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구글이 주도하는 오픈소스 실시간 통신(RTC) 프로젝트 — 브라우저·앱 간 음성·영상·데이터를 플러그인 없이 실시간으로 주고받기 위한 API와 엔진을 제공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Web API(브라우저용)와 Native C++ API(브라우저 벤더·네이티브 앱 개발자용)로 구분 — 이 프로젝트는 Native C++ 소스 중 오디오 처리 모듈(APM)만 정적 라이브러리로 발췌해 사용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전체 아키텍처 구성 (webrtc.github.io/webrtc-org)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전송/세션 계층 — RTP 스택, STUN/ICE(네트워크 경유 연결 수립), 세션 관리(libjingle 기반) — 이 프로젝트는 자체 로컬 마이크·스피커만 다루므로 미사용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VoiceEngine — 코덱(iSAC·iLBC·Opus), NetEQ(지터 버퍼), AEC(에코 제거), 잡음 억제 — 이 중 AEC·NS를 포함하는 오디오 처리 모듈(APM)만 발췌해 사용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VideoEngine — VP8 등 영상 코덱·지터 버퍼·화질 개선 — 음성 전용인 이 프로젝트와는 무관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APM(Audio Processing Module) 개요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webrtc::AudioProcessing 인터페이스(modules/audio_processing) — 캡처(마이크)·재생(스피커) 두 스트림을 함께 받아 에코·잡음·이득을 실시간 보정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이 프로젝트는 BuiltinAudioProcessingBuilder(config).Build(CreateEnvironment())로 APM 인스턴스를 직접 생성 — PeerConnection 등 전체 WebRTC 스택 없이 APM만 라이브러리로 사용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두 처리 진입점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ProcessReverseStream() — 재생(render, 원단) 신호를 참조로 등록(에코 추정용) → JNI nativeProcessRender에서 호출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ProcessStream() — 마이크(capture, 근단) 신호를 실제 처리(AEC/NS/AGC 적용) → JNI nativeProcessCapture에서 호출, 직전에 set_stream_delay_ms()로 추정 지연 전달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Config로 켜고 끄는 서브모듈 (이 프로젝트의 실제 설정값)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high_pass_filter.enabled = false — AEC3 내부 처리에 위임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echo_canceller.enabled = true — AEC3(Acoustic Echo Canceller 3)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noise_suppression.enabled = isNSON, level = kVeryHigh — NS(Noise Suppressor)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gain_controller1.enabled = false(레거시 AGC1, 미사용) / gain_controller2.enabled·adaptive_digital = isAGCOn — AGC2(GainController2) 사용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424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webrtc.googlesource.com/src 를 기준(authoritative) 소스로 채택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미러 저장소와 차이 존재 — AECM 제거, AGC 설정 위치 변경(api/audio/audio_processing.h) 등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WebRTC APM(Audio Processing Module)을 정적 라이브러리(.a)로 빌드, ABI별 분리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JNI 브릿지 구조: apm_lib.cpp(SHARED) ↔ Kotlin LocalEchoCanceller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nativeCreate / nativeProcessRender / nativeProcessCapture / nativeDestroy 등으로 노출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안드로이드 코드에서 AEC 필터 함수 사용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CMake에서 apm_lib(SHARED) 타겟이 ABI별 libwebrtc_apm.a(IMPORTED STATIC)를 링크, c++_shared/log/android/dl/z 연결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JNI 브릿지 빌드 파이프라인</a:t>
            </a:r>
            <a:endParaRPr lang="en-US" altLang="ko-KR" sz="1400" b="1" dirty="0">
              <a:solidFill>
                <a:srgbClr val="384F5F"/>
              </a:solidFill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WebRTC C++ 원본 소스 → 정적 라이브러리(.a) 빌드 → JNI 브릿지 함수 작성 → 공유 라이브러리(.so) 빌드까지의 과정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60" name="round_60"/>
          <p:cNvSpPr/>
          <p:nvPr/>
        </p:nvSpPr>
        <p:spPr>
          <a:xfrm>
            <a:off x="300000" y="3175000"/>
            <a:ext cx="1650000" cy="11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WebRTC C++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원본 소스</a:t>
            </a:r>
          </a:p>
        </p:txBody>
      </p:sp>
      <p:sp>
        <p:nvSpPr>
          <p:cNvPr id="61" name="round_61"/>
          <p:cNvSpPr/>
          <p:nvPr/>
        </p:nvSpPr>
        <p:spPr>
          <a:xfrm>
            <a:off x="2075000" y="3175000"/>
            <a:ext cx="1650000" cy="11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정적 라이브러리 빌드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(.a, ABI별)</a:t>
            </a:r>
          </a:p>
        </p:txBody>
      </p:sp>
      <p:sp>
        <p:nvSpPr>
          <p:cNvPr id="62" name="round_62"/>
          <p:cNvSpPr/>
          <p:nvPr/>
        </p:nvSpPr>
        <p:spPr>
          <a:xfrm>
            <a:off x="3850000" y="3175000"/>
            <a:ext cx="1650000" cy="11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JNI 브릿지 함수 작성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(apm_lib.cpp)</a:t>
            </a:r>
          </a:p>
        </p:txBody>
      </p:sp>
      <p:sp>
        <p:nvSpPr>
          <p:cNvPr id="63" name="round_63"/>
          <p:cNvSpPr/>
          <p:nvPr/>
        </p:nvSpPr>
        <p:spPr>
          <a:xfrm>
            <a:off x="5625000" y="3175000"/>
            <a:ext cx="1650000" cy="11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공유 라이브러리 빌드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(.so)</a:t>
            </a:r>
          </a:p>
        </p:txBody>
      </p:sp>
      <p:sp>
        <p:nvSpPr>
          <p:cNvPr id="64" name="round_64"/>
          <p:cNvSpPr/>
          <p:nvPr/>
        </p:nvSpPr>
        <p:spPr>
          <a:xfrm>
            <a:off x="7400000" y="3175000"/>
            <a:ext cx="1650000" cy="11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Kotlin 로드·호출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(LocalEchoCanceller)</a:t>
            </a:r>
          </a:p>
        </p:txBody>
      </p:sp>
      <p:cxnSp>
        <p:nvCxnSpPr>
          <p:cNvPr id="71" name="conn_71"/>
          <p:cNvCxnSpPr>
            <a:cxnSpLocks/>
            <a:stCxn id="60" idx="3"/>
            <a:endCxn id="61" idx="1"/>
          </p:cNvCxnSpPr>
          <p:nvPr/>
        </p:nvCxnSpPr>
        <p:spPr>
          <a:xfrm>
            <a:off x="1950000" y="3750000"/>
            <a:ext cx="125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_72"/>
          <p:cNvCxnSpPr>
            <a:cxnSpLocks/>
            <a:stCxn id="61" idx="3"/>
            <a:endCxn id="62" idx="1"/>
          </p:cNvCxnSpPr>
          <p:nvPr/>
        </p:nvCxnSpPr>
        <p:spPr>
          <a:xfrm>
            <a:off x="3725000" y="3750000"/>
            <a:ext cx="125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_73"/>
          <p:cNvCxnSpPr>
            <a:cxnSpLocks/>
            <a:stCxn id="62" idx="3"/>
            <a:endCxn id="63" idx="1"/>
          </p:cNvCxnSpPr>
          <p:nvPr/>
        </p:nvCxnSpPr>
        <p:spPr>
          <a:xfrm>
            <a:off x="5500000" y="3750000"/>
            <a:ext cx="125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_74"/>
          <p:cNvCxnSpPr>
            <a:cxnSpLocks/>
            <a:stCxn id="63" idx="3"/>
            <a:endCxn id="64" idx="1"/>
          </p:cNvCxnSpPr>
          <p:nvPr/>
        </p:nvCxnSpPr>
        <p:spPr>
          <a:xfrm>
            <a:off x="7275000" y="3750000"/>
            <a:ext cx="125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80"/>
          <p:cNvSpPr txBox="1"/>
          <p:nvPr/>
        </p:nvSpPr>
        <p:spPr>
          <a:xfrm>
            <a:off x="361950" y="4400000"/>
            <a:ext cx="90297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sz="1000" b="1" dirty="0">
                <a:solidFill>
                  <a:srgbClr val="384F5F"/>
                </a:solidFill>
                <a:latin typeface="+mn-ea"/>
              </a:rPr>
              <a:t>단계별 설명</a:t>
            </a:r>
            <a:endParaRPr lang="en-US" altLang="ko-KR" sz="1000" b="1" dirty="0">
              <a:solidFill>
                <a:srgbClr val="384F5F"/>
              </a:solidFill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① WebRTC C++ 원본 소스: webrtc.googlesource.com/src의 modules/audio_processing 등 AEC3 관련 소스 코드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② 정적 라이브러리(.a) 빌드: NDK/CMake로 Android(Linux 기반) ABI별(arm64-v8a/armeabi-v7a/x86_64) 크로스컴파일 → libwebrtc_apm.a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③ JNI 브릿지 함수 작성: apm_lib.cpp에서 extern "C" JNIEXPORT로 AEC3 API를 nativeCreate/nativeProcessRender 등으로 래핑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④ 공유 라이브러리(.so) 빌드: apm_lib(SHARED) 타겟이 ABI별 libwebrtc_apm.a(IMPORTED STATIC)를 링크해 libapm_lib.so 생성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⑤ Kotlin에서 로드·호출: System.loadLibrary("apm_lib")로 .so 로드 후 LocalEchoCanceller가 JNI 함수 호출</a:t>
            </a:r>
            <a:endParaRPr lang="en-US" altLang="ko-KR" sz="1150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JNI 함수별 설명 (apm_lib.cpp)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Kotlin LocalEchoCanceller에서 호출하는 extern "C" JNIEXPORT 함수 7개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702000" y="1927740"/>
          <a:ext cx="7505007" cy="288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5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AEC3 AudioProcessing 인스턴스 생성(sample_rate, channels, isNSON, isAGCOn) → handle(jlong) 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nativeProcessRender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스피커 출력(원단) PCM을 ProcessReverseStream에 전달 — AudioTrack.write() 직전 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nativeProcessCapture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마이크 입력(근단) PCM을 ProcessStream으로 제자리 처리, stream_delay_ms 반영, near-end 미러 detector 갱신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nativeSetNearEndDetectorConfig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Barge-in 판정용 DominantNearendDetector(enr/snr threshold) 생성·설정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nativeIsNearEndState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최근 캡처 프레임 기준 dominant nearend(발성) 상태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b="1" dirty="0">
                          <a:solidFill>
                            <a:srgbClr val="384F5F"/>
                          </a:solidFill>
                          <a:latin typeface="+mn-ea"/>
                        </a:rPr>
                        <a:t>nativeDestroy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100" dirty="0">
                          <a:latin typeface="+mn-ea"/>
                        </a:rPr>
                        <a:t>AecHandle 해제 및 메모리 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헬퍼 함수 (익명 네임스페이스)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ToJlong / FromJlong — C++ 포인터(AecHandle*)와 Java long 핸들 값을 상호 변환하는 표준 JNI 캐스팅 패턴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ThrowIllegalArgument / ThrowApmError — 잘못된 인자, APM 내부 처리 실패(에러 코드 포함)를 각각 RuntimeException으로 변환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IsNativePcm16Rate — WebRTC APM이 지원하는 샘플레이트(8/16/32/48kHz)인지 검증(nativeCreate 입력 검증용)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GetPcm — Kotlin DirectByteBuffer의 네이티브 메모리 주소를 얻어와 zero-copy로 직접 읽고 씀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HasWholeFrames — 버퍼가 10ms 프레임 단위로 정확히 나누어떨어지는지 검사(WebRTC APM은 10ms 프레임만 처리)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ComputeRmsDbfs — PCM16 → RMS 계산 → dBFS 변환(20·log10(rms/32768)), -96.0 하한 클램프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AecHandle 구조체 — 세션 상태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apm(실제 webrtc::AudioProcessing 인스턴스), stream_config·frame_bytes(샘플레이트/채널 기반 캐시값)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mutex — render/capture 스레드 간 apm 접근 동기화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nearend_detector, fft, nearend_state, carry 버퍼 — 실제 AEC3 처리와 별개로 dominant nearend(근단 발성) 상태를 미러링하기 위한 부가 상태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네이티브 함수(JNI 진입점) — 처리 상세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nativeCreate — 샘플레이트/채널 검증 → Config 구성(HPF는 AEC3에 위임, AEC On, NS는 isNSON, AGC1 Off·AGC2는 isAGCOn) → BuiltinAudioProcessingBuilder로 APM 생성 → AecHandle을 long 핸들로 반환</a:t>
            </a:r>
            <a:endParaRPr lang="en-US" altLang="ko-KR" sz="115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nativeProcessRender — 스피커 출력(far-end) PCM을 10ms 프레임 단위로 잘라 ProcessReverseStream 반복 호출(참조 신호 등록)</a:t>
            </a:r>
            <a:endParaRPr lang="en-US" altLang="ko-KR" sz="115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nativeProcessCapture(핵심) — set_stream_delay_ms로 추정 지연 전달 → 프레임별 ProcessStream으로 AEC/NS/AGC 제자리 처리 → nearend 추적 시 10ms 프레임을 FFT 요구 크기(64샘플)로 나누고 나머지는 carry로 이월해 DominantNearendDetector 갱신 → 처리된 동일 버퍼 반환(zero-copy)</a:t>
            </a:r>
            <a:endParaRPr lang="en-US" altLang="ko-KR" sz="115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nativeSetNearEndDetectorConfig / nativeIsNearEndState — 근단 판별기 threshold 설정(재생성 시 carry 초기화) / 최신 판정 상태 조회 — 실제 AEC3 config와는 분리된 상태 조회 전용 인스턴스</a:t>
            </a:r>
            <a:endParaRPr lang="en-US" altLang="ko-KR" sz="115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nativeDestroy / nativeCalculateRmsDb — AecHandle 해제 / PCM16 → ComputeRmsDbfs로 RMS dBFS 계산(Kotlin GetRms에 대응하는 네이티브 함수)</a:t>
            </a:r>
            <a:endParaRPr lang="en-US" altLang="ko-KR" sz="115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전체 흐름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nativeCreate로 세션 생성 → render 스레드가 nativeProcessRender로 스피커 신호 공급, capture 스레드가 nativeProcessCapture로 마이크 신호 처리(AEC/NS/AGC 적용 + nearend 상태 갱신) → 필요 시 nativeIsNearEndState·nativeCalculateRmsDb로 부가 정보 조회 → nativeDestroy로 정리</a:t>
            </a:r>
            <a:endParaRPr lang="en-US" altLang="ko-KR" sz="1150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3.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WebRTC 소스 및 구현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424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빌드 환경 전환: Visual Studio 2022 → VSCode + CMake Tools (CMakePresets.json)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Android NDK 버전 불일치로 인한 링크 이슈 대응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Multi-ABI 대응: arm64-v8a / armeabi-v7a / x86_64 별 CMake Configure/Build Preset 분리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Android 16KB 페이지 크기 정렬 대응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-Wl,-z,max-page-size=16384 링크 옵션 적용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ANDROID_PLATFORM=android-24, Ninja 제너레이터, NDK 30.0.15729638 기준 구성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WebRTC APM 전체 필터링 구조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마이크 입력이 HPF → AEC3 → NS → AGC 순으로 처리 — 이 프로젝트는 HPF를 AEC3 내부 처리에 위임(Off)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sp>
        <p:nvSpPr>
          <p:cNvPr id="10" name="round_10"/>
          <p:cNvSpPr/>
          <p:nvPr/>
        </p:nvSpPr>
        <p:spPr>
          <a:xfrm>
            <a:off x="35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마이크 입력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(근단)</a:t>
            </a:r>
          </a:p>
        </p:txBody>
      </p:sp>
      <p:sp>
        <p:nvSpPr>
          <p:cNvPr id="11" name="round_11"/>
          <p:cNvSpPr/>
          <p:nvPr/>
        </p:nvSpPr>
        <p:spPr>
          <a:xfrm>
            <a:off x="190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HPF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(Off · AEC3 내부처리)</a:t>
            </a:r>
          </a:p>
        </p:txBody>
      </p:sp>
      <p:sp>
        <p:nvSpPr>
          <p:cNvPr id="12" name="round_12"/>
          <p:cNvSpPr/>
          <p:nvPr/>
        </p:nvSpPr>
        <p:spPr>
          <a:xfrm>
            <a:off x="345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AEC3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Echo Canceller</a:t>
            </a:r>
          </a:p>
        </p:txBody>
      </p:sp>
      <p:sp>
        <p:nvSpPr>
          <p:cNvPr id="13" name="round_13"/>
          <p:cNvSpPr/>
          <p:nvPr/>
        </p:nvSpPr>
        <p:spPr>
          <a:xfrm>
            <a:off x="500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NS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Noise Suppression</a:t>
            </a:r>
          </a:p>
        </p:txBody>
      </p:sp>
      <p:sp>
        <p:nvSpPr>
          <p:cNvPr id="14" name="round_14"/>
          <p:cNvSpPr/>
          <p:nvPr/>
        </p:nvSpPr>
        <p:spPr>
          <a:xfrm>
            <a:off x="655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AGC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GainController2</a:t>
            </a:r>
          </a:p>
        </p:txBody>
      </p:sp>
      <p:sp>
        <p:nvSpPr>
          <p:cNvPr id="15" name="round_15"/>
          <p:cNvSpPr/>
          <p:nvPr/>
        </p:nvSpPr>
        <p:spPr>
          <a:xfrm>
            <a:off x="8100000" y="3275000"/>
            <a:ext cx="14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처리된 출력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신호</a:t>
            </a:r>
          </a:p>
        </p:txBody>
      </p:sp>
      <p:sp>
        <p:nvSpPr>
          <p:cNvPr id="19" name="round_19"/>
          <p:cNvSpPr/>
          <p:nvPr/>
        </p:nvSpPr>
        <p:spPr>
          <a:xfrm>
            <a:off x="3350000" y="2075000"/>
            <a:ext cx="1600000" cy="9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스피커 출력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(원단 / Render)</a:t>
            </a:r>
          </a:p>
        </p:txBody>
      </p:sp>
      <p:cxnSp>
        <p:nvCxnSpPr>
          <p:cNvPr id="20" name="conn_20"/>
          <p:cNvCxnSpPr>
            <a:cxnSpLocks/>
            <a:stCxn id="10" idx="3"/>
            <a:endCxn id="11" idx="1"/>
          </p:cNvCxnSpPr>
          <p:nvPr/>
        </p:nvCxnSpPr>
        <p:spPr>
          <a:xfrm>
            <a:off x="1750000" y="375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_21"/>
          <p:cNvCxnSpPr>
            <a:cxnSpLocks/>
            <a:stCxn id="11" idx="3"/>
            <a:endCxn id="12" idx="1"/>
          </p:cNvCxnSpPr>
          <p:nvPr/>
        </p:nvCxnSpPr>
        <p:spPr>
          <a:xfrm>
            <a:off x="3300000" y="375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_22"/>
          <p:cNvCxnSpPr>
            <a:cxnSpLocks/>
            <a:stCxn id="12" idx="3"/>
            <a:endCxn id="13" idx="1"/>
          </p:cNvCxnSpPr>
          <p:nvPr/>
        </p:nvCxnSpPr>
        <p:spPr>
          <a:xfrm>
            <a:off x="4850000" y="375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_23"/>
          <p:cNvCxnSpPr>
            <a:cxnSpLocks/>
            <a:stCxn id="13" idx="3"/>
            <a:endCxn id="14" idx="1"/>
          </p:cNvCxnSpPr>
          <p:nvPr/>
        </p:nvCxnSpPr>
        <p:spPr>
          <a:xfrm>
            <a:off x="6400000" y="375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_24"/>
          <p:cNvCxnSpPr>
            <a:cxnSpLocks/>
            <a:stCxn id="14" idx="3"/>
            <a:endCxn id="15" idx="1"/>
          </p:cNvCxnSpPr>
          <p:nvPr/>
        </p:nvCxnSpPr>
        <p:spPr>
          <a:xfrm>
            <a:off x="7950000" y="3750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_25"/>
          <p:cNvCxnSpPr>
            <a:cxnSpLocks/>
            <a:stCxn id="19" idx="2"/>
            <a:endCxn id="12" idx="0"/>
          </p:cNvCxnSpPr>
          <p:nvPr/>
        </p:nvCxnSpPr>
        <p:spPr>
          <a:xfrm>
            <a:off x="4150000" y="2975000"/>
            <a:ext cx="0" cy="300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0"/>
          <p:cNvSpPr txBox="1"/>
          <p:nvPr/>
        </p:nvSpPr>
        <p:spPr>
          <a:xfrm>
            <a:off x="361950" y="4475000"/>
            <a:ext cx="90297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384F5F"/>
                </a:solidFill>
                <a:latin typeface="+mn-ea"/>
              </a:rPr>
              <a:t>WebRTC 원본 소스 매핑</a:t>
            </a:r>
            <a:endParaRPr lang="en-US" altLang="ko-KR" sz="1250" b="1" dirty="0">
              <a:solidFill>
                <a:srgbClr val="384F5F"/>
              </a:solidFill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HPF → HighPassFilter (high_pass_filter.h) — AEC3 사용 시 내부 위임되어 비활성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AEC3 → EchoCanceller3 (modules/audio_processing/aec3/echo_canceller3.h)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NS → NoiseSuppressor (modules/audio_processing/ns/noise_suppressor.h)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AGC → GainController2 (modules/audio_processing/gain_controller2.h)</a:t>
            </a:r>
            <a:endParaRPr lang="en-US" altLang="ko-KR" sz="900" dirty="0">
              <a:latin typeface="+mn-ea"/>
            </a:endParaRPr>
          </a:p>
          <a:p>
            <a:pPr marL="180975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+mn-ea"/>
              </a:rPr>
              <a:t>처리 순서(HPF 위임 → AEC3 → NS → AGC)는 AudioProcessingImpl::ProcessCaptureStreamLocked()에서 확인</a:t>
            </a:r>
            <a:endParaRPr lang="en-US" altLang="ko-KR" sz="900" dirty="0">
              <a:latin typeface="+mn-ea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sz="800" i="1" dirty="0">
                <a:solidFill>
                  <a:srgbClr val="A3ABB2"/>
                </a:solidFill>
                <a:latin typeface="+mn-ea"/>
              </a:rPr>
              <a:t>출처: webrtc.googlesource.com/src — modules/audio_processing/{audio_processing_impl.cc, high_pass_filter.h, aec3/echo_canceller3.h, ns/noise_suppressor.h, gain_controller2.h}</a:t>
            </a:r>
            <a:endParaRPr lang="en-US" altLang="ko-KR" sz="800" i="1" dirty="0">
              <a:solidFill>
                <a:srgbClr val="A3ABB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AEC3 적응 필터 구조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원단(render) 신호로 선형 에코를 추정·제거한 뒤, 잔여 신호에 비선형 억제(Suppression Gain)를 적용하는 2단계 구조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Suppression Gain 계산에 Dominant Nearend Detection(ENR/SNR)이 활용되며, barge-in 판정용 미러 인스턴스가 동일 로직을 재사용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sp>
        <p:nvSpPr>
          <p:cNvPr id="30" name="round_30"/>
          <p:cNvSpPr/>
          <p:nvPr/>
        </p:nvSpPr>
        <p:spPr>
          <a:xfrm>
            <a:off x="300000" y="2475000"/>
            <a:ext cx="19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스피커 출력(원단)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→ Render Delay Buffer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(지연 추정)</a:t>
            </a:r>
          </a:p>
        </p:txBody>
      </p:sp>
      <p:sp>
        <p:nvSpPr>
          <p:cNvPr id="31" name="round_31"/>
          <p:cNvSpPr/>
          <p:nvPr/>
        </p:nvSpPr>
        <p:spPr>
          <a:xfrm>
            <a:off x="2400000" y="2475000"/>
            <a:ext cx="16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150" b="1" dirty="0">
                <a:latin typeface="+mn-ea"/>
              </a:rPr>
              <a:t>Linear Adaptive Filter</a:t>
            </a:r>
            <a:br>
              <a:rPr lang="ko-KR" altLang="en-US" sz="1150" dirty="0">
                <a:latin typeface="+mn-ea"/>
              </a:rPr>
            </a:br>
            <a:r>
              <a:rPr lang="ko-KR" altLang="en-US" sz="1150" dirty="0">
                <a:latin typeface="+mn-ea"/>
              </a:rPr>
              <a:t>(서브밴드 에코 추정)</a:t>
            </a:r>
          </a:p>
        </p:txBody>
      </p:sp>
      <p:sp>
        <p:nvSpPr>
          <p:cNvPr id="32" name="round_32"/>
          <p:cNvSpPr/>
          <p:nvPr/>
        </p:nvSpPr>
        <p:spPr>
          <a:xfrm>
            <a:off x="35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마이크 입력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(근단)</a:t>
            </a:r>
          </a:p>
        </p:txBody>
      </p:sp>
      <p:sp>
        <p:nvSpPr>
          <p:cNvPr id="33" name="round_33"/>
          <p:cNvSpPr/>
          <p:nvPr/>
        </p:nvSpPr>
        <p:spPr>
          <a:xfrm>
            <a:off x="190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선형 에코 제거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(Subtract)</a:t>
            </a:r>
          </a:p>
        </p:txBody>
      </p:sp>
      <p:sp>
        <p:nvSpPr>
          <p:cNvPr id="34" name="round_34"/>
          <p:cNvSpPr/>
          <p:nvPr/>
        </p:nvSpPr>
        <p:spPr>
          <a:xfrm>
            <a:off x="345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Suppression Gain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계산 (ERLE·잔여에코)</a:t>
            </a:r>
          </a:p>
        </p:txBody>
      </p:sp>
      <p:sp>
        <p:nvSpPr>
          <p:cNvPr id="35" name="round_35"/>
          <p:cNvSpPr/>
          <p:nvPr/>
        </p:nvSpPr>
        <p:spPr>
          <a:xfrm>
            <a:off x="500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Nonlinear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Suppressor</a:t>
            </a:r>
          </a:p>
        </p:txBody>
      </p:sp>
      <p:sp>
        <p:nvSpPr>
          <p:cNvPr id="36" name="round_36"/>
          <p:cNvSpPr/>
          <p:nvPr/>
        </p:nvSpPr>
        <p:spPr>
          <a:xfrm>
            <a:off x="655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Comfort Noise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추가</a:t>
            </a:r>
          </a:p>
        </p:txBody>
      </p:sp>
      <p:sp>
        <p:nvSpPr>
          <p:cNvPr id="37" name="round_37"/>
          <p:cNvSpPr/>
          <p:nvPr/>
        </p:nvSpPr>
        <p:spPr>
          <a:xfrm>
            <a:off x="8100000" y="4075000"/>
            <a:ext cx="1400000" cy="100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최종 출력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(에코 억제 신호)</a:t>
            </a:r>
          </a:p>
        </p:txBody>
      </p:sp>
      <p:cxnSp>
        <p:nvCxnSpPr>
          <p:cNvPr id="40" name="conn_40"/>
          <p:cNvCxnSpPr>
            <a:cxnSpLocks/>
            <a:stCxn id="30" idx="3"/>
            <a:endCxn id="31" idx="1"/>
          </p:cNvCxnSpPr>
          <p:nvPr/>
        </p:nvCxnSpPr>
        <p:spPr>
          <a:xfrm>
            <a:off x="2200000" y="2975000"/>
            <a:ext cx="20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_41"/>
          <p:cNvCxnSpPr>
            <a:cxnSpLocks/>
            <a:stCxn id="32" idx="3"/>
            <a:endCxn id="33" idx="1"/>
          </p:cNvCxnSpPr>
          <p:nvPr/>
        </p:nvCxnSpPr>
        <p:spPr>
          <a:xfrm>
            <a:off x="1750000" y="4575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_42"/>
          <p:cNvCxnSpPr>
            <a:cxnSpLocks/>
            <a:stCxn id="33" idx="3"/>
            <a:endCxn id="34" idx="1"/>
          </p:cNvCxnSpPr>
          <p:nvPr/>
        </p:nvCxnSpPr>
        <p:spPr>
          <a:xfrm>
            <a:off x="3300000" y="4575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_43"/>
          <p:cNvCxnSpPr>
            <a:cxnSpLocks/>
            <a:stCxn id="34" idx="3"/>
            <a:endCxn id="35" idx="1"/>
          </p:cNvCxnSpPr>
          <p:nvPr/>
        </p:nvCxnSpPr>
        <p:spPr>
          <a:xfrm>
            <a:off x="4850000" y="4575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_44"/>
          <p:cNvCxnSpPr>
            <a:cxnSpLocks/>
            <a:stCxn id="35" idx="3"/>
            <a:endCxn id="36" idx="1"/>
          </p:cNvCxnSpPr>
          <p:nvPr/>
        </p:nvCxnSpPr>
        <p:spPr>
          <a:xfrm>
            <a:off x="6400000" y="4575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_45"/>
          <p:cNvCxnSpPr>
            <a:cxnSpLocks/>
            <a:stCxn id="36" idx="3"/>
            <a:endCxn id="37" idx="1"/>
          </p:cNvCxnSpPr>
          <p:nvPr/>
        </p:nvCxnSpPr>
        <p:spPr>
          <a:xfrm>
            <a:off x="7950000" y="4575000"/>
            <a:ext cx="1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_46"/>
          <p:cNvCxnSpPr>
            <a:cxnSpLocks/>
            <a:stCxn id="31" idx="2"/>
            <a:endCxn id="33" idx="0"/>
          </p:cNvCxnSpPr>
          <p:nvPr/>
        </p:nvCxnSpPr>
        <p:spPr>
          <a:xfrm flipH="1">
            <a:off x="2600000" y="3475000"/>
            <a:ext cx="600000" cy="600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0"/>
          <p:cNvSpPr txBox="1"/>
          <p:nvPr/>
        </p:nvSpPr>
        <p:spPr>
          <a:xfrm>
            <a:off x="361950" y="5075000"/>
            <a:ext cx="9029700" cy="14500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ko-KR" altLang="en-US" sz="1250" b="1" dirty="0">
                <a:solidFill>
                  <a:srgbClr val="384F5F"/>
                </a:solidFill>
                <a:latin typeface="+mn-ea"/>
              </a:rPr>
              <a:t>WebRTC 원본 소스 매핑 (modules/audio_processing/aec3/*.h)</a:t>
            </a:r>
            <a:endParaRPr lang="en-US" altLang="ko-KR" sz="1250" b="1" dirty="0">
              <a:solidFill>
                <a:srgbClr val="384F5F"/>
              </a:solidFill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Render Delay Buffer(지연 추정) → RenderDelayBuffer + RenderDelayController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Linear Adaptive Filter / 선형 에코 제거(Subtract) → AdaptiveFirFilter + Subtractor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Suppression Gain 계산(ERLE·잔여에코) → SuppressionGain, ResidualEchoEstimator, ErleEstimator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Nonlinear Suppressor → SuppressionFilter</a:t>
            </a:r>
            <a:endParaRPr lang="en-US" altLang="ko-KR" sz="1150" dirty="0">
              <a:latin typeface="+mn-ea"/>
            </a:endParaRPr>
          </a:p>
          <a:p>
            <a:pPr marL="180975" indent="-17145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ko-KR" altLang="en-US" sz="1150" dirty="0">
                <a:latin typeface="+mn-ea"/>
              </a:rPr>
              <a:t>Comfort Noise 추가 → ComfortNoiseGenerator</a:t>
            </a:r>
            <a:endParaRPr lang="en-US" altLang="ko-KR" sz="115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ko-KR" altLang="en-US" sz="800" i="1" dirty="0">
                <a:solidFill>
                  <a:srgbClr val="A3ABB2"/>
                </a:solidFill>
                <a:latin typeface="+mn-ea"/>
              </a:rPr>
              <a:t>출처: webrtc.googlesource.com/src — modules/audio_processing/aec3/{render_delay_buffer.h, subtractor.h, suppression_gain.h, suppression_filter.h, comfort_noise_generator.h}</a:t>
            </a:r>
            <a:endParaRPr lang="en-US" altLang="ko-KR" sz="800" i="1" dirty="0">
              <a:solidFill>
                <a:srgbClr val="A3ABB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AEC3 처리 단계별 내부 연산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① Render Delay Buffer(지연 추정) — 렌더 신호를 1/4 다운샘플링한 뒤, 매칭 필터 5개(각 32 서브블록 윈도우)로 정규화 상호상관을 계산해 지연(lag) 추정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② Linear Adaptive Filter(선형 에코 제거) — 4ms(64샘플) 블록 단위로 128포인트 FFT 기반 주파수영역 블록 적응 필터(FDAF) 적용. Refined/Coarse 2개 필터(각 12~13개 파티션 ≈ 48~52ms 에코 테일 커버)를 매 블록마다 갱신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③ Suppression Gain 계산 — 128포인트 FFT 기준 65개 주파수 빈별로 ERLE(Echo Return Loss Enhancement)와 잔여 에코 파워를 추정해 억제 이득 산출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④ Nonlinear Suppressor / Comfort Noise — 산출된 억제 이득을 주파수영역에 적용한 뒤 역FFT로 시간영역 신호를 복원하고, 컴포트 노이즈를 합성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연산량 및 처리 주기</a:t>
            </a:r>
            <a:endParaRPr lang="en-US" altLang="ko-KR" sz="1400" b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AEC3 내부 처리 단위는 64샘플(4ms) 블록 — 초당 250블록 처리(10ms 입력 프레임 1개당 평균 2.5블록)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필터 연산은 시간영역 직접 컨볼루션이 아닌 128포인트 FFT 기반 주파수영역에서 수행되어 연산량을 절감 — ARM NEON/x86 SSE SIMD 최적화 적용 시 약 8배 연산량 감소(WebRTC 공식 커밋 기준)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50" i="1" dirty="0">
                <a:latin typeface="+mn-ea"/>
              </a:rPr>
              <a:t>참고: 데스크톱(x86 SSE2) 프로파일링 사례에서 SIMD 최적화 후 MatchedFilter 연산이 전체 CPU의 약 1.6%(최적화 전 약 3%) 수준으로 측정(Mozilla Bugzilla #1702781) — 이 프로젝트의 기기별 실제 처리 시간(ms)은 코드에 별도 계측이 없어 온디바이스 프로파일링(Android Trace 등)으로 추가 확인 필요</a:t>
            </a:r>
            <a:endParaRPr lang="en-US" altLang="ko-KR" sz="1150" i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오디오 데이터 처리 및 필터 설정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오디오 데이터는 10ms 단위로 필터에 제공 강제 (16k Mono 기준 16000/100*2 = 320 chunk)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206731" y="1927740"/>
          <a:ext cx="7505007" cy="227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4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b="1" dirty="0">
                          <a:solidFill>
                            <a:srgbClr val="384F5F"/>
                          </a:solidFill>
                          <a:latin typeface="+mn-ea"/>
                        </a:rPr>
                        <a:t>HPF (High-Pass Filter)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dirty="0">
                          <a:latin typeface="+mn-ea"/>
                        </a:rPr>
                        <a:t>고주파 통과 필터. AEC 내부에서 처리되어 Off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b="1" dirty="0">
                          <a:solidFill>
                            <a:srgbClr val="384F5F"/>
                          </a:solidFill>
                          <a:latin typeface="+mn-ea"/>
                        </a:rPr>
                        <a:t>NS (Noise Suppression)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dirty="0">
                          <a:latin typeface="+mn-ea"/>
                        </a:rPr>
                        <a:t>잡음 제거 필터. isNSON 파라미터로 On/Off 제어 (kVeryHigh 레벨)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b="1" dirty="0">
                          <a:solidFill>
                            <a:srgbClr val="384F5F"/>
                          </a:solidFill>
                          <a:latin typeface="+mn-ea"/>
                        </a:rPr>
                        <a:t>AGC (Automatic Gain Control)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dirty="0">
                          <a:latin typeface="+mn-ea"/>
                        </a:rPr>
                        <a:t>자동 이득 제어(소리 범위 조절) 필터. isAGCOn 파라미터로 제어 (GainController2 adaptive digital)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b="1" dirty="0">
                          <a:solidFill>
                            <a:srgbClr val="384F5F"/>
                          </a:solidFill>
                          <a:latin typeface="+mn-ea"/>
                        </a:rPr>
                        <a:t>AudioSource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latinLnBrk="1"/>
                      <a:r>
                        <a:rPr lang="ko-KR" altLang="en-US" sz="1200" dirty="0">
                          <a:latin typeface="+mn-ea"/>
                        </a:rPr>
                        <a:t>Android AudioRecord AudioSource = VOICE_RECOGNITION (하드웨어 NS, AGC 필터 Off)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3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기기별 마이크 민감도 보정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기기별로 마이크로 측정되는 사운드 값의 범위가 다름(마이크 민감도)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일부 제조사의 sensitivity 설정값은 실제 측정 환경과 차이가 발생 (예: 민감도가 더 낮다고 확인된 기기에서 같은 환경에서 더 큰 신호가 측정됨)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스피커-마이크 간 기기별 실제 딜레이 계산(매칭 필터)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재생 신호와 입력 신호 간 상관관계 기반으로 기기별 실측 지연을 추정해 set_stream_delay_ms에 반영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추정 지연이 부정확할 경우 AEC3 적응형 필터의 수렴 및 에코 제거 성능에 영향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i="1" dirty="0">
                <a:latin typeface="+mn-ea"/>
              </a:rPr>
              <a:t>구현: 300Hz→3000Hz 처프(chirp) 스윕(200ms)을 재생과 동시에 녹음 → 정규화 상호상관(normalized cross-correlation)으로 최대 유사 지점(lag)을 탐색해 지연(ms)으로 환산</a:t>
            </a:r>
            <a:endParaRPr lang="en-US" altLang="ko-KR" sz="1200" i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i="1" dirty="0">
                <a:latin typeface="+mn-ea"/>
              </a:rPr>
              <a:t>상관계수(신뢰도)가 임계값(0.5) 미만이면 측정 실패로 간주 — 기본값(90ms)으로 대체 적용</a:t>
            </a:r>
            <a:endParaRPr lang="en-US" altLang="ko-KR" sz="1200" i="1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두 보정 로직 모두 Android(Kotlin) 레이어에서 계산 — 네이티브(apm_lib)에는 결과값만 파라미터로 전달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21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(기본) RMS 임계값 방식 — AEC 필터링 후 신호 확인 및 처리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스피커 출력 신호를 참조 신호로, 마이크 입력 신호를 타겟 신호로 AEC 필터에 전달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임계값: 앱 시작 시 측정한 배경소음 RMS 중앙값(median) × 4배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판정: 0.8초 구간 동안의 RMS 값 평균이 이 임계값을 초과하면 발성(Barge-in)으로 인식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별도로 nativeCalculateRmsDb 함수가 dBFS(-96.0~0.0) 단위 RMS 에너지를 계산해 제공</a:t>
            </a:r>
            <a:endParaRPr lang="en-US" altLang="ko-KR" sz="12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음성 신호의 RMS — 신호 크기(에너지) 지표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10ms 프레임 단위 PCM 샘플의 제곱평균제곱근(RMS)으로 해당 구간 신호의 크기(에너지)를 나타내며, 값이 클수록 음성·재생음이 큼을 의미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스피커 출력(render)·마이크 입력(capture) 각각의 RMS를 Compose Canvas 파형 뷰로 실시간 모니터링에 활용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5.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Barge-in 판정 로직</a:t>
            </a:r>
          </a:p>
        </p:txBody>
      </p:sp>
      <p:sp>
        <p:nvSpPr>
          <p:cNvPr id="10" name="round_10"/>
          <p:cNvSpPr/>
          <p:nvPr/>
        </p:nvSpPr>
        <p:spPr>
          <a:xfrm>
            <a:off x="503000" y="5475000"/>
            <a:ext cx="15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마이크 입력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(타겟 신호)</a:t>
            </a:r>
          </a:p>
        </p:txBody>
      </p:sp>
      <p:sp>
        <p:nvSpPr>
          <p:cNvPr id="11" name="round_11"/>
          <p:cNvSpPr/>
          <p:nvPr/>
        </p:nvSpPr>
        <p:spPr>
          <a:xfrm>
            <a:off x="2353000" y="5475000"/>
            <a:ext cx="15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AEC 적응형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필터</a:t>
            </a:r>
          </a:p>
        </p:txBody>
      </p:sp>
      <p:sp>
        <p:nvSpPr>
          <p:cNvPr id="12" name="round_12"/>
          <p:cNvSpPr/>
          <p:nvPr/>
        </p:nvSpPr>
        <p:spPr>
          <a:xfrm>
            <a:off x="4203000" y="5475000"/>
            <a:ext cx="15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에코 제거된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신호</a:t>
            </a:r>
          </a:p>
        </p:txBody>
      </p:sp>
      <p:sp>
        <p:nvSpPr>
          <p:cNvPr id="13" name="round_13"/>
          <p:cNvSpPr/>
          <p:nvPr/>
        </p:nvSpPr>
        <p:spPr>
          <a:xfrm>
            <a:off x="6053000" y="5475000"/>
            <a:ext cx="15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임계값 비교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(중앙값×4,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0.8초 평균)</a:t>
            </a:r>
          </a:p>
        </p:txBody>
      </p:sp>
      <p:sp>
        <p:nvSpPr>
          <p:cNvPr id="14" name="round_14"/>
          <p:cNvSpPr/>
          <p:nvPr/>
        </p:nvSpPr>
        <p:spPr>
          <a:xfrm>
            <a:off x="7903000" y="5475000"/>
            <a:ext cx="15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발성 인식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판정(Barge-in)</a:t>
            </a:r>
          </a:p>
        </p:txBody>
      </p:sp>
      <p:cxnSp>
        <p:nvCxnSpPr>
          <p:cNvPr id="15" name="conn_15"/>
          <p:cNvCxnSpPr>
            <a:cxnSpLocks/>
            <a:stCxn id="10" idx="3"/>
            <a:endCxn id="11" idx="1"/>
          </p:cNvCxnSpPr>
          <p:nvPr/>
        </p:nvCxnSpPr>
        <p:spPr>
          <a:xfrm>
            <a:off x="2003000" y="595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_16"/>
          <p:cNvCxnSpPr>
            <a:cxnSpLocks/>
            <a:stCxn id="11" idx="3"/>
            <a:endCxn id="12" idx="1"/>
          </p:cNvCxnSpPr>
          <p:nvPr/>
        </p:nvCxnSpPr>
        <p:spPr>
          <a:xfrm>
            <a:off x="3853000" y="595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_17"/>
          <p:cNvCxnSpPr>
            <a:cxnSpLocks/>
            <a:stCxn id="12" idx="3"/>
            <a:endCxn id="13" idx="1"/>
          </p:cNvCxnSpPr>
          <p:nvPr/>
        </p:nvCxnSpPr>
        <p:spPr>
          <a:xfrm>
            <a:off x="5703000" y="595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_18"/>
          <p:cNvCxnSpPr>
            <a:cxnSpLocks/>
            <a:stCxn id="13" idx="3"/>
            <a:endCxn id="14" idx="1"/>
          </p:cNvCxnSpPr>
          <p:nvPr/>
        </p:nvCxnSpPr>
        <p:spPr>
          <a:xfrm>
            <a:off x="7553000" y="595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_19"/>
          <p:cNvSpPr/>
          <p:nvPr/>
        </p:nvSpPr>
        <p:spPr>
          <a:xfrm>
            <a:off x="2253000" y="4425000"/>
            <a:ext cx="1700000" cy="8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스피커 출력 신호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(참조 신호)</a:t>
            </a:r>
          </a:p>
        </p:txBody>
      </p:sp>
      <p:cxnSp>
        <p:nvCxnSpPr>
          <p:cNvPr id="20" name="conn_20"/>
          <p:cNvCxnSpPr>
            <a:cxnSpLocks/>
            <a:stCxn id="19" idx="2"/>
            <a:endCxn id="11" idx="0"/>
          </p:cNvCxnSpPr>
          <p:nvPr/>
        </p:nvCxnSpPr>
        <p:spPr>
          <a:xfrm>
            <a:off x="3103000" y="5275000"/>
            <a:ext cx="0" cy="200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5.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Barge-in 판정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424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(Optional — 구현/검증 중) AEC3 DominantNearendDetector 기반 방식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처리 전/후 신호로 근단(nearend)·잔여에코 스펙트럼을 FFT 비교해 ENR/SNR 임계값으로 판정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64-sample FFT 블록 정합을 위한 carry-over 처리 — 10ms 프레임 경계와 무관하게 샘플 누락 방지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현재 테스트 진행 중이며 완전히 검증되지 않음 — 발표 시점 완성도에 따라 포함 여부 결정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RMS 임계값 방식과 공존 — nativeCalculateRmsDb는 별도 용도로 유지</a:t>
            </a:r>
            <a:endParaRPr lang="en-US" altLang="ko-KR" sz="14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EchoCanceller3Config::Suppressor::DominantNearendDetection 설정 구조체(enr_threshold, snr_threshold)를 nativeSetNearEndDetectorConfig로 외부 주입</a:t>
            </a:r>
            <a:endParaRPr lang="en-US" altLang="ko-KR" sz="1200" dirty="0">
              <a:latin typeface="+mn-ea"/>
            </a:endParaRP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실제 AEC3 처리 경로와 분리된 '미러 인스턴스'로 동작 — barge-in 판정 전용이며 에코 제거 자체에는 영향 없음</a:t>
            </a:r>
            <a:endParaRPr lang="en-US" alt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361950" y="984885"/>
            <a:ext cx="9029700" cy="77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앱 시작부터 발성 인식까지의 전체 흐름</a:t>
            </a:r>
            <a:endParaRPr lang="en-US" altLang="ko-KR" sz="1400" dirty="0">
              <a:latin typeface="+mn-ea"/>
            </a:endParaRPr>
          </a:p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Render(스피커 출력)·Capture(마이크 입력) 스레드는 별도 mutex로 분리 — 서로의 대기 시간을 최소화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6.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동작 흐름</a:t>
            </a:r>
          </a:p>
        </p:txBody>
      </p:sp>
      <p:sp>
        <p:nvSpPr>
          <p:cNvPr id="10" name="round_10"/>
          <p:cNvSpPr/>
          <p:nvPr/>
        </p:nvSpPr>
        <p:spPr>
          <a:xfrm>
            <a:off x="628000" y="4025000"/>
            <a:ext cx="19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앱 시작</a:t>
            </a:r>
          </a:p>
        </p:txBody>
      </p:sp>
      <p:sp>
        <p:nvSpPr>
          <p:cNvPr id="11" name="round_11"/>
          <p:cNvSpPr/>
          <p:nvPr/>
        </p:nvSpPr>
        <p:spPr>
          <a:xfrm>
            <a:off x="2878000" y="4025000"/>
            <a:ext cx="19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배경 소음 측정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→ 임계값 설정</a:t>
            </a:r>
          </a:p>
        </p:txBody>
      </p:sp>
      <p:sp>
        <p:nvSpPr>
          <p:cNvPr id="12" name="round_12"/>
          <p:cNvSpPr/>
          <p:nvPr/>
        </p:nvSpPr>
        <p:spPr>
          <a:xfrm>
            <a:off x="5128000" y="4025000"/>
            <a:ext cx="19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녹음 / 미디어 재생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/ AEC 필터 On</a:t>
            </a:r>
          </a:p>
        </p:txBody>
      </p:sp>
      <p:sp>
        <p:nvSpPr>
          <p:cNvPr id="13" name="round_13"/>
          <p:cNvSpPr/>
          <p:nvPr/>
        </p:nvSpPr>
        <p:spPr>
          <a:xfrm>
            <a:off x="7378000" y="4025000"/>
            <a:ext cx="1900000" cy="950000"/>
          </a:xfrm>
          <a:prstGeom prst="roundRect">
            <a:avLst/>
          </a:prstGeom>
          <a:noFill/>
          <a:ln w="28575">
            <a:solidFill>
              <a:schemeClr val="accent2">
                <a:shade val="7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ko-KR" altLang="en-US" sz="1250" b="1" dirty="0">
                <a:latin typeface="+mn-ea"/>
              </a:rPr>
              <a:t>스피커 소리 제외,</a:t>
            </a:r>
            <a:br>
              <a:rPr lang="ko-KR" altLang="en-US" sz="1250" dirty="0">
                <a:latin typeface="+mn-ea"/>
              </a:rPr>
            </a:br>
            <a:r>
              <a:rPr lang="ko-KR" altLang="en-US" sz="1250" dirty="0">
                <a:latin typeface="+mn-ea"/>
              </a:rPr>
              <a:t>사람 발성만 인식</a:t>
            </a:r>
          </a:p>
        </p:txBody>
      </p:sp>
      <p:cxnSp>
        <p:nvCxnSpPr>
          <p:cNvPr id="14" name="conn_14"/>
          <p:cNvCxnSpPr>
            <a:cxnSpLocks/>
            <a:stCxn id="10" idx="3"/>
            <a:endCxn id="11" idx="1"/>
          </p:cNvCxnSpPr>
          <p:nvPr/>
        </p:nvCxnSpPr>
        <p:spPr>
          <a:xfrm>
            <a:off x="2528000" y="450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_15"/>
          <p:cNvCxnSpPr>
            <a:cxnSpLocks/>
            <a:stCxn id="11" idx="3"/>
            <a:endCxn id="12" idx="1"/>
          </p:cNvCxnSpPr>
          <p:nvPr/>
        </p:nvCxnSpPr>
        <p:spPr>
          <a:xfrm>
            <a:off x="4778000" y="450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_16"/>
          <p:cNvCxnSpPr>
            <a:cxnSpLocks/>
            <a:stCxn id="12" idx="3"/>
            <a:endCxn id="13" idx="1"/>
          </p:cNvCxnSpPr>
          <p:nvPr/>
        </p:nvCxnSpPr>
        <p:spPr>
          <a:xfrm>
            <a:off x="7028000" y="4500000"/>
            <a:ext cx="35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7.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실제 기기 테스트 결과</a:t>
            </a:r>
          </a:p>
        </p:txBody>
      </p:sp>
      <p:sp>
        <p:nvSpPr>
          <p:cNvPr id="199" name="TextBox Subtitle"/>
          <p:cNvSpPr txBox="1"/>
          <p:nvPr/>
        </p:nvSpPr>
        <p:spPr>
          <a:xfrm>
            <a:off x="361950" y="984885"/>
            <a:ext cx="9029700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80975" lvl="1" indent="-171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300" b="1" dirty="0">
                <a:solidFill>
                  <a:srgbClr val="384F5F"/>
                </a:solidFill>
                <a:latin typeface="+mn-ea"/>
              </a:rPr>
              <a:t>갤럭시 S21 Ultra / Galaxy A31 실기기 테스트 — 스피커(상단,초록)·마이크(하단,보라) RMS 파형 비교</a:t>
            </a:r>
          </a:p>
        </p:txBody>
      </p:sp>
      <p:sp>
        <p:nvSpPr>
          <p:cNvPr id="201" name="Caption"/>
          <p:cNvSpPr txBox="1"/>
          <p:nvPr/>
        </p:nvSpPr>
        <p:spPr>
          <a:xfrm>
            <a:off x="361950" y="1344885"/>
            <a:ext cx="4200000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갤럭시 S21 Ultra — HW AEC (기기 내장)</a:t>
            </a:r>
          </a:p>
        </p:txBody>
      </p:sp>
      <p:sp>
        <p:nvSpPr>
          <p:cNvPr id="202" name="Caption"/>
          <p:cNvSpPr txBox="1"/>
          <p:nvPr/>
        </p:nvSpPr>
        <p:spPr>
          <a:xfrm>
            <a:off x="5191650" y="1344885"/>
            <a:ext cx="4200000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갤럭시 S21 Ultra — SW AEC (WebRTC APM)</a:t>
            </a:r>
          </a:p>
        </p:txBody>
      </p:sp>
      <p:pic>
        <p:nvPicPr>
          <p:cNvPr id="101" name="S21 Ultra HW AE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959" y="1574885"/>
            <a:ext cx="3993982" cy="178888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102" name="S21 Ultra SW AEC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021" y="1574885"/>
            <a:ext cx="3983257" cy="178888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203" name="Caption"/>
          <p:cNvSpPr txBox="1"/>
          <p:nvPr/>
        </p:nvSpPr>
        <p:spPr>
          <a:xfrm>
            <a:off x="361950" y="3463773"/>
            <a:ext cx="4200000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Galaxy A31 — HW AEC (기기 내장)</a:t>
            </a:r>
          </a:p>
        </p:txBody>
      </p:sp>
      <p:sp>
        <p:nvSpPr>
          <p:cNvPr id="204" name="Caption"/>
          <p:cNvSpPr txBox="1"/>
          <p:nvPr/>
        </p:nvSpPr>
        <p:spPr>
          <a:xfrm>
            <a:off x="5191650" y="3463773"/>
            <a:ext cx="4200000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Galaxy A31 — SW AEC (WebRTC APM)</a:t>
            </a:r>
          </a:p>
        </p:txBody>
      </p:sp>
      <p:pic>
        <p:nvPicPr>
          <p:cNvPr id="103" name="A31 HW AEC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662" y="3693773"/>
            <a:ext cx="4064575" cy="178888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104" name="A31 SW AEC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1130" y="3693773"/>
            <a:ext cx="4021040" cy="178888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300" name="TextBox Obs"/>
          <p:cNvSpPr txBox="1"/>
          <p:nvPr/>
        </p:nvSpPr>
        <p:spPr>
          <a:xfrm>
            <a:off x="361950" y="5552661"/>
            <a:ext cx="9029700" cy="1205339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180975" lvl="1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관찰 결과 (녹음 파형 기준)</a:t>
            </a:r>
          </a:p>
          <a:p>
            <a:pPr marL="638175" lvl="2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S21</a:t>
            </a:r>
            <a:r>
              <a:rPr lang="en-US" altLang="ko-KR" sz="1050" dirty="0">
                <a:latin typeface="+mn-ea"/>
              </a:rPr>
              <a:t>: HW·SW AEC </a:t>
            </a:r>
            <a:r>
              <a:rPr lang="ko-KR" altLang="en-US" sz="1050" dirty="0">
                <a:latin typeface="+mn-ea"/>
              </a:rPr>
              <a:t>모두 마이크 파형 평탄 </a:t>
            </a:r>
            <a:endParaRPr lang="en-US" altLang="ko-KR" sz="1050" dirty="0">
              <a:latin typeface="+mn-ea"/>
            </a:endParaRPr>
          </a:p>
          <a:p>
            <a:pPr marL="638175" lvl="2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A31: </a:t>
            </a:r>
            <a:r>
              <a:rPr lang="ko-KR" altLang="en-US" sz="1050" dirty="0" err="1">
                <a:latin typeface="+mn-ea"/>
              </a:rPr>
              <a:t>Ultra</a:t>
            </a:r>
            <a:r>
              <a:rPr lang="ko-KR" altLang="en-US" sz="1050" dirty="0">
                <a:latin typeface="+mn-ea"/>
              </a:rPr>
              <a:t>: HW AEC 시 마이크(보라)에 스피커 출력과 유사한 잔여 파형 관찰 / SW </a:t>
            </a:r>
            <a:r>
              <a:rPr lang="ko-KR" altLang="en-US" sz="1050" dirty="0" err="1">
                <a:latin typeface="+mn-ea"/>
              </a:rPr>
              <a:t>WebRTC</a:t>
            </a:r>
            <a:r>
              <a:rPr lang="ko-KR" altLang="en-US" sz="1050" dirty="0">
                <a:latin typeface="+mn-ea"/>
              </a:rPr>
              <a:t> AEC 시 마이크 파형 평탄</a:t>
            </a:r>
            <a:endParaRPr lang="en-US" altLang="ko-KR" sz="1050" dirty="0">
              <a:latin typeface="+mn-ea"/>
            </a:endParaRPr>
          </a:p>
          <a:p>
            <a:pPr marL="466725"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1050" dirty="0">
              <a:latin typeface="+mn-ea"/>
            </a:endParaRPr>
          </a:p>
          <a:p>
            <a:pPr marL="466725"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atin typeface="+mn-ea"/>
              </a:rPr>
              <a:t>→ </a:t>
            </a:r>
            <a:r>
              <a:rPr lang="en-US" altLang="ko-KR" sz="1050" dirty="0">
                <a:latin typeface="+mn-ea"/>
              </a:rPr>
              <a:t>HW </a:t>
            </a:r>
            <a:r>
              <a:rPr lang="ko-KR" altLang="en-US" sz="1050" dirty="0">
                <a:latin typeface="+mn-ea"/>
              </a:rPr>
              <a:t>방식은 기기 성능 영향 크게 받음</a:t>
            </a:r>
            <a:r>
              <a:rPr lang="en-US" altLang="ko-KR" sz="1050" dirty="0">
                <a:latin typeface="+mn-ea"/>
              </a:rPr>
              <a:t>, SW </a:t>
            </a:r>
            <a:r>
              <a:rPr lang="ko-KR" altLang="en-US" sz="1050" dirty="0">
                <a:latin typeface="+mn-ea"/>
              </a:rPr>
              <a:t>방식은 비교적 균일한 에코 캔슬 효과를 보임</a:t>
            </a:r>
            <a:r>
              <a:rPr lang="en-US" altLang="ko-KR" sz="1050" dirty="0">
                <a:latin typeface="+mn-ea"/>
              </a:rPr>
              <a:t>.</a:t>
            </a:r>
            <a:endParaRPr lang="ko-KR" altLang="en-US" sz="1050" dirty="0"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8.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맺음말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2853055"/>
            <a:ext cx="990600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2F424F"/>
                </a:solidFill>
              </a:rPr>
              <a:t>감사합니다 / Q&amp;A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7.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실제 기기 테스트 결과 — NS/AGC 조합 (Galaxy A31)</a:t>
            </a:r>
          </a:p>
        </p:txBody>
      </p:sp>
      <p:sp>
        <p:nvSpPr>
          <p:cNvPr id="199" name="TextBox Subtitle"/>
          <p:cNvSpPr txBox="1"/>
          <p:nvPr/>
        </p:nvSpPr>
        <p:spPr>
          <a:xfrm>
            <a:off x="361950" y="984885"/>
            <a:ext cx="9029700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80975" lvl="1" indent="-171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300" b="1" dirty="0">
                <a:solidFill>
                  <a:srgbClr val="384F5F"/>
                </a:solidFill>
                <a:latin typeface="+mn-ea"/>
              </a:rPr>
              <a:t>Galaxy A31 · SW WebRTC AEC 고정, NS·AGC 조합별 비교 — 스피커(상단,초록)·마이크(하단,보라) RMS 파형</a:t>
            </a:r>
          </a:p>
        </p:txBody>
      </p:sp>
      <p:sp>
        <p:nvSpPr>
          <p:cNvPr id="201" name="Caption"/>
          <p:cNvSpPr txBox="1"/>
          <p:nvPr/>
        </p:nvSpPr>
        <p:spPr>
          <a:xfrm>
            <a:off x="361950" y="1344885"/>
            <a:ext cx="2876566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NS on · AGC off</a:t>
            </a:r>
          </a:p>
        </p:txBody>
      </p:sp>
      <p:sp>
        <p:nvSpPr>
          <p:cNvPr id="202" name="Caption"/>
          <p:cNvSpPr txBox="1"/>
          <p:nvPr/>
        </p:nvSpPr>
        <p:spPr>
          <a:xfrm>
            <a:off x="3438516" y="1344885"/>
            <a:ext cx="2876566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NS off · AGC on</a:t>
            </a:r>
          </a:p>
        </p:txBody>
      </p:sp>
      <p:sp>
        <p:nvSpPr>
          <p:cNvPr id="203" name="Caption"/>
          <p:cNvSpPr txBox="1"/>
          <p:nvPr/>
        </p:nvSpPr>
        <p:spPr>
          <a:xfrm>
            <a:off x="6515082" y="1344885"/>
            <a:ext cx="2876566" cy="20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384F5F"/>
                </a:solidFill>
                <a:latin typeface="+mn-ea"/>
              </a:rPr>
              <a:t>NS on · AGC on</a:t>
            </a:r>
          </a:p>
        </p:txBody>
      </p:sp>
      <p:pic>
        <p:nvPicPr>
          <p:cNvPr id="101" name="A31 NS on AGC o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574885"/>
            <a:ext cx="2876566" cy="1225204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102" name="A31 NS off AGC 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16" y="1574885"/>
            <a:ext cx="2876566" cy="1225204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103" name="A31 NS on AGC 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082" y="1574885"/>
            <a:ext cx="2876566" cy="1225204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300" name="TextBox Expl"/>
          <p:cNvSpPr txBox="1"/>
          <p:nvPr/>
        </p:nvSpPr>
        <p:spPr>
          <a:xfrm>
            <a:off x="361950" y="2950089"/>
            <a:ext cx="9029700" cy="380791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80975" lvl="1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50" b="1" dirty="0">
                <a:solidFill>
                  <a:srgbClr val="384F5F"/>
                </a:solidFill>
                <a:latin typeface="+mn-ea"/>
              </a:rPr>
              <a:t>NS(Noise Suppression) / AGC(Automatic Gain Control)란?</a:t>
            </a:r>
          </a:p>
          <a:p>
            <a:pPr marL="638175" lvl="2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+mn-ea"/>
              </a:rPr>
              <a:t>NS — 정상 잡음(stationary background noise)을 추정해 억제하는 필터. 이 프로젝트는 WebRTC NoiseSuppression을 kVeryHigh 레벨로 설정</a:t>
            </a:r>
          </a:p>
          <a:p>
            <a:pPr marL="638175" lvl="2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+mn-ea"/>
              </a:rPr>
              <a:t>AGC — 입력 신호 레벨을 목표 레벨로 자동 조정. 이 프로젝트는 WebRTC GainController2(adaptive digital)를 사용</a:t>
            </a:r>
          </a:p>
          <a:p>
            <a:pPr marL="180975" lvl="1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50" b="1" dirty="0">
                <a:solidFill>
                  <a:srgbClr val="384F5F"/>
                </a:solidFill>
                <a:latin typeface="+mn-ea"/>
              </a:rPr>
              <a:t>테스트 해석</a:t>
            </a:r>
          </a:p>
          <a:p>
            <a:pPr marL="638175" lvl="2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+mn-ea"/>
              </a:rPr>
              <a:t>Galaxy A31 · SW WebRTC AEC 고정 상태에서 NS·AGC on/off 3개 조합 모두 마이크 파형이 평탄 — AEC 단계에서 이미 에코 성분이 제거되어 NS/AGC 조합 차이가 파형상 뚜렷하게 드러나지 않음</a:t>
            </a:r>
          </a:p>
          <a:p>
            <a:pPr marL="638175" lvl="2" indent="-17145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+mn-ea"/>
              </a:rPr>
              <a:t>NS/AGC는 에코 제거 이후 잔여 배경잡음 억제·신호 레벨 정규화를 담당하는 보조 단계 — Barge-in RMS 임계값 판정의 핵심은 AEC 처리 결과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54000" y="273685"/>
            <a:ext cx="8543925" cy="305435"/>
          </a:xfrm>
          <a:prstGeom prst="rect">
            <a:avLst/>
          </a:prstGeom>
        </p:spPr>
        <p:txBody>
          <a:bodyPr/>
          <a:lstStyle>
            <a:lvl1pPr algn="l" defTabSz="914378" rtl="0" eaLnBrk="1" latinLnBrk="1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2F424F"/>
                </a:solidFill>
              </a:rPr>
              <a:t>4. </a:t>
            </a:r>
            <a:r>
              <a:rPr lang="ko-KR" altLang="en-US" b="1" dirty="0">
                <a:solidFill>
                  <a:srgbClr val="2F424F"/>
                </a:solidFill>
                <a:latin typeface="+mn-ea"/>
              </a:rPr>
              <a:t>구현 세부사항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984885"/>
            <a:ext cx="90297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80975" lvl="1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384F5F"/>
                </a:solidFill>
                <a:latin typeface="+mn-ea"/>
              </a:rPr>
              <a:t>매칭 필터(Cross-Correlation 기반 지연 추정) 수식</a:t>
            </a: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① 처프(Chirp) 신호 생성 — 300Hz→3000Hz 선형 스윕, 200ms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Consolas"/>
              </a:rPr>
              <a:t>x(t) = A · sin( 2π (f₀t + ½kt²) ),   k = (f₁ − f₀) / T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00" i="1" dirty="0">
                <a:latin typeface="+mn-ea"/>
              </a:rPr>
              <a:t>f₀=300Hz, f₁=3000Hz, T=200ms, A=0.8×32767(PCM16 최대진폭의 80%)</a:t>
            </a: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② 정규화 상호상관(Normalized Cross-Correlation) — 지연 후보 d(샘플)별 유사도 점수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Consolas"/>
              </a:rPr>
              <a:t>score(d) = Σᵢ ref[i]·cap[d+i]  /  ( √(Σᵢref[i]² · Σᵢcap[d+i]²) + ε )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00" i="1" dirty="0">
                <a:latin typeface="+mn-ea"/>
              </a:rPr>
              <a:t>d = 0 … len(cap) − len(ref), ref=재생한 처프 신호, cap=녹음된 신호(±0.5초 캡처 구간)</a:t>
            </a: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③ 최적 지연(lag) 및 딜레이 환산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Consolas"/>
              </a:rPr>
              <a:t>d* = argmax_d  score(d)   →   delay_ms = (d* / fs) × 1000</a:t>
            </a:r>
          </a:p>
          <a:p>
            <a:pPr marL="1095375" lvl="3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100" i="1" dirty="0">
                <a:latin typeface="+mn-ea"/>
              </a:rPr>
              <a:t>score(d*) ≥ 0.5(신뢰도 임계값)일 때만 채택, 미만이면 기본값 90ms로 대체(fs=16000Hz)</a:t>
            </a:r>
          </a:p>
          <a:p>
            <a:pPr marL="638175" lvl="2" indent="-1714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추정된 delay_ms는 set_stream_delay_ms로 AEC3에 전달되어 적응형 필터의 초기 지연 보정에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본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84F5F"/>
      </a:accent1>
      <a:accent2>
        <a:srgbClr val="8DC63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67c15a-9f43-46a1-aade-396de5678c0b" xsi:nil="true"/>
    <lcf76f155ced4ddcb4097134ff3c332f xmlns="be69d723-19e3-4861-98bf-9eec6576576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A35419E57FD9A43AB35B36757FF9AD7" ma:contentTypeVersion="18" ma:contentTypeDescription="새 문서를 만듭니다." ma:contentTypeScope="" ma:versionID="5ce5485c0def0793a22ee7ded5f5d269">
  <xsd:schema xmlns:xsd="http://www.w3.org/2001/XMLSchema" xmlns:xs="http://www.w3.org/2001/XMLSchema" xmlns:p="http://schemas.microsoft.com/office/2006/metadata/properties" xmlns:ns2="be69d723-19e3-4861-98bf-9eec65765760" xmlns:ns3="1c67c15a-9f43-46a1-aade-396de5678c0b" targetNamespace="http://schemas.microsoft.com/office/2006/metadata/properties" ma:root="true" ma:fieldsID="086c30b6a15739f0caf4b47934e605ea" ns2:_="" ns3:_="">
    <xsd:import namespace="be69d723-19e3-4861-98bf-9eec65765760"/>
    <xsd:import namespace="1c67c15a-9f43-46a1-aade-396de5678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9d723-19e3-4861-98bf-9eec657657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b0804228-30ff-46f2-bd2c-9725bbc2d7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7c15a-9f43-46a1-aade-396de5678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5366fec-0e99-4cb8-a72c-019f36885410}" ma:internalName="TaxCatchAll" ma:showField="CatchAllData" ma:web="1c67c15a-9f43-46a1-aade-396de5678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3ACB65-5E0E-417F-A527-3437D3ABD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57719-1E59-468D-87C1-3542F33212A1}">
  <ds:schemaRefs>
    <ds:schemaRef ds:uri="http://schemas.microsoft.com/office/2006/metadata/properties"/>
    <ds:schemaRef ds:uri="http://schemas.microsoft.com/office/infopath/2007/PartnerControls"/>
    <ds:schemaRef ds:uri="1c67c15a-9f43-46a1-aade-396de5678c0b"/>
    <ds:schemaRef ds:uri="be69d723-19e3-4861-98bf-9eec65765760"/>
  </ds:schemaRefs>
</ds:datastoreItem>
</file>

<file path=customXml/itemProps3.xml><?xml version="1.0" encoding="utf-8"?>
<ds:datastoreItem xmlns:ds="http://schemas.openxmlformats.org/officeDocument/2006/customXml" ds:itemID="{3B165590-F279-474E-9C04-EAACB5F44F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9d723-19e3-4861-98bf-9eec65765760"/>
    <ds:schemaRef ds:uri="1c67c15a-9f43-46a1-aade-396de5678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Pages>15</Pages>
  <Words>3397</Words>
  <Characters>0</Characters>
  <Application>Microsoft Office PowerPoint</Application>
  <DocSecurity>0</DocSecurity>
  <PresentationFormat>A4 용지(210x297mm)</PresentationFormat>
  <Lines>0</Lines>
  <Paragraphs>244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Wingdings</vt:lpstr>
      <vt:lpstr>본문</vt:lpstr>
      <vt:lpstr>표지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Adam I. Lee</dc:creator>
  <cp:lastModifiedBy>Elric Junha Kim</cp:lastModifiedBy>
  <cp:revision>43</cp:revision>
  <dcterms:modified xsi:type="dcterms:W3CDTF">2026-09-15T06:11:47Z</dcterms:modified>
  <cp:version>9.101.23.39576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0x0101000A35419E57FD9A43AB35B36757FF9AD7</vt:lpwstr>
  </property>
</Properties>
</file>